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57" r:id="rId3"/>
    <p:sldId id="258" r:id="rId4"/>
    <p:sldId id="260" r:id="rId5"/>
    <p:sldId id="272" r:id="rId6"/>
    <p:sldId id="273" r:id="rId7"/>
    <p:sldId id="262" r:id="rId8"/>
    <p:sldId id="270" r:id="rId9"/>
    <p:sldId id="263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33" autoAdjust="0"/>
  </p:normalViewPr>
  <p:slideViewPr>
    <p:cSldViewPr>
      <p:cViewPr varScale="1">
        <p:scale>
          <a:sx n="82" d="100"/>
          <a:sy n="82" d="100"/>
        </p:scale>
        <p:origin x="147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shmi durga" userId="166ca152698b5a08" providerId="LiveId" clId="{8745DC02-0830-49F6-B3C4-ECA2774765F4}"/>
    <pc:docChg chg="undo custSel modSld sldOrd">
      <pc:chgData name="lakshmi durga" userId="166ca152698b5a08" providerId="LiveId" clId="{8745DC02-0830-49F6-B3C4-ECA2774765F4}" dt="2025-09-11T13:50:56.681" v="5"/>
      <pc:docMkLst>
        <pc:docMk/>
      </pc:docMkLst>
      <pc:sldChg chg="modSp mod ord">
        <pc:chgData name="lakshmi durga" userId="166ca152698b5a08" providerId="LiveId" clId="{8745DC02-0830-49F6-B3C4-ECA2774765F4}" dt="2025-09-11T13:50:56.681" v="5"/>
        <pc:sldMkLst>
          <pc:docMk/>
          <pc:sldMk cId="0" sldId="270"/>
        </pc:sldMkLst>
        <pc:spChg chg="mod">
          <ac:chgData name="lakshmi durga" userId="166ca152698b5a08" providerId="LiveId" clId="{8745DC02-0830-49F6-B3C4-ECA2774765F4}" dt="2025-09-10T14:58:33.396" v="3" actId="20577"/>
          <ac:spMkLst>
            <pc:docMk/>
            <pc:sldMk cId="0" sldId="270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1600200"/>
          </a:xfrm>
        </p:spPr>
        <p:txBody>
          <a:bodyPr>
            <a:noAutofit/>
          </a:bodyPr>
          <a:lstStyle/>
          <a:p>
            <a:r>
              <a:rPr lang="en-US" sz="2800" b="1" dirty="0"/>
              <a:t>Four-Element UWB MIMO Antenna System With a Square Frame Decoupling Structure for Enhanced Isolation and Polarization Diversity Characteristics</a:t>
            </a:r>
            <a:endParaRPr lang="en-US" sz="2800" b="1" dirty="0">
              <a:solidFill>
                <a:srgbClr val="FF0000"/>
              </a:solidFill>
              <a:latin typeface="Bookman Old Style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1600199"/>
            <a:ext cx="8382000" cy="3505201"/>
          </a:xfrm>
        </p:spPr>
        <p:txBody>
          <a:bodyPr>
            <a:normAutofit fontScale="85000" lnSpcReduction="10000"/>
          </a:bodyPr>
          <a:lstStyle/>
          <a:p>
            <a:r>
              <a:rPr lang="en-US" sz="28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by  </a:t>
            </a:r>
          </a:p>
          <a:p>
            <a:r>
              <a:rPr lang="en-US" sz="28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Batch no: C5</a:t>
            </a:r>
          </a:p>
          <a:p>
            <a:pPr algn="l"/>
            <a:r>
              <a:rPr lang="en-US" sz="2800" b="1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		</a:t>
            </a:r>
            <a:r>
              <a:rPr lang="en-US" sz="28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T.LAKSHMI</a:t>
            </a:r>
            <a:r>
              <a:rPr lang="en-US" sz="2800" b="1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DURGA</a:t>
            </a:r>
            <a:r>
              <a:rPr lang="en-US" sz="2800" b="1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     </a:t>
            </a:r>
            <a:r>
              <a:rPr lang="en-US" sz="28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(23NG5A0427)</a:t>
            </a:r>
          </a:p>
          <a:p>
            <a:pPr algn="l"/>
            <a:r>
              <a:rPr lang="en-US" sz="28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		D.KISHORE		        (22NG1A04F1)</a:t>
            </a:r>
          </a:p>
          <a:p>
            <a:pPr algn="l"/>
            <a:r>
              <a:rPr lang="en-US" sz="28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 		SK.NAGUR SAIDA	        (23NG5A0423)</a:t>
            </a:r>
          </a:p>
          <a:p>
            <a:pPr algn="l"/>
            <a:r>
              <a:rPr lang="en-US" sz="28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		K.SYAM PRASAD	        (22NG1A04G0)</a:t>
            </a:r>
          </a:p>
          <a:p>
            <a:r>
              <a:rPr lang="en-US" sz="20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        Under the Esteemed Guidance of</a:t>
            </a:r>
          </a:p>
          <a:p>
            <a:r>
              <a:rPr lang="en-US" sz="20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	</a:t>
            </a:r>
            <a:r>
              <a:rPr lang="en-US" sz="2000" b="1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Dr. A. Suneel Kumar ( </a:t>
            </a:r>
            <a:r>
              <a:rPr lang="en-US" sz="2000" b="1" dirty="0" err="1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M.Tech,Ph.D</a:t>
            </a:r>
            <a:r>
              <a:rPr lang="en-US" sz="2000" b="1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 )</a:t>
            </a:r>
          </a:p>
          <a:p>
            <a:r>
              <a:rPr lang="en-US" sz="2000" b="1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Associate professor</a:t>
            </a:r>
            <a:endParaRPr lang="en-US" b="1" dirty="0">
              <a:solidFill>
                <a:schemeClr val="tx1"/>
              </a:solidFill>
              <a:latin typeface="Bookman Old Style" pitchFamily="18" charset="0"/>
              <a:cs typeface="Times New Roman" pitchFamily="18" charset="0"/>
            </a:endParaRPr>
          </a:p>
        </p:txBody>
      </p:sp>
      <p:pic>
        <p:nvPicPr>
          <p:cNvPr id="4" name="Picture 3" descr="C:\Users\ECE-HOD\Desktop\logo.jpg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169"/>
          <a:stretch/>
        </p:blipFill>
        <p:spPr bwMode="auto">
          <a:xfrm>
            <a:off x="609600" y="5410200"/>
            <a:ext cx="7848600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76200" y="4964668"/>
            <a:ext cx="8915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>
                <a:solidFill>
                  <a:srgbClr val="0000FF"/>
                </a:solidFill>
                <a:latin typeface="Bookman Old Style" pitchFamily="18" charset="0"/>
              </a:rPr>
              <a:t>  </a:t>
            </a:r>
            <a:r>
              <a:rPr lang="en-IN" sz="21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itchFamily="18" charset="0"/>
              </a:rPr>
              <a:t>Department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704050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5720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458200" cy="62484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Abstract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Existing system (Methodology/Algorithm/Protocol)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Proposed system (Block Diagram) &amp; it’s working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Expected outcomes (Results/outputs)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Requirements: Software / &amp; Hardware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Advantages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Applications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References</a:t>
            </a: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181600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cost-effective antenna is proposed for Ultrawideband (UWB) applications, focusing on compactness and performance.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Achieves a wide operating range from 3.7 GHz to 15.7 GHz (12 GHz bandwidth)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four-element MIMO setup is arranged orthogonally to enhance diversity and spatial performance.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MIMO mode, bandwidth improves to 2.9 GHz to 16.2 GHz, covering more UWB spectrum.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Delivers a maximum gain of 5.5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14 GHz with &gt;80% total efficiency across the resonance band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 geometric parasitic element between antenna elements boosts isolation by 15 dB, reducing mutual coupling.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Compact design — 20×26 mm² for a single element and 46×48 mm² for the full MIMO array.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39762"/>
          </a:xfrm>
        </p:spPr>
        <p:txBody>
          <a:bodyPr>
            <a:normAutofit fontScale="90000"/>
          </a:bodyPr>
          <a:lstStyle/>
          <a:p>
            <a:br>
              <a:rPr lang="en-US" sz="36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EXISTING SYSTEM</a:t>
            </a:r>
            <a:b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fontScale="250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element UWB antennas like monopole and slot designs supported wide bandwidth but lacked MIMO diversity.</a:t>
            </a:r>
          </a:p>
          <a:p>
            <a:pPr algn="just">
              <a:lnSpc>
                <a:spcPct val="120000"/>
              </a:lnSpc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Multi-element MIMO antennas suffered from strong mutual coupling when elements were placed close together.</a:t>
            </a:r>
          </a:p>
          <a:p>
            <a:pPr algn="just">
              <a:lnSpc>
                <a:spcPct val="120000"/>
              </a:lnSpc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designs used a common ground plane without modification, which reduced isolation.</a:t>
            </a:r>
          </a:p>
          <a:p>
            <a:pPr algn="just">
              <a:lnSpc>
                <a:spcPct val="120000"/>
              </a:lnSpc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operating bandwidth was often limited to around 3–10 GHz, not covering higher frequencies.</a:t>
            </a:r>
          </a:p>
          <a:p>
            <a:pPr algn="just">
              <a:lnSpc>
                <a:spcPct val="120000"/>
              </a:lnSpc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Antenna size was relatively large, making it unsuitable for compact devices.</a:t>
            </a:r>
          </a:p>
          <a:p>
            <a:pPr algn="just">
              <a:lnSpc>
                <a:spcPct val="120000"/>
              </a:lnSpc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systems used multilayer substrates or expensive materials, making them less cost-effective.</a:t>
            </a:r>
          </a:p>
          <a:p>
            <a:pPr algn="just">
              <a:lnSpc>
                <a:spcPct val="120000"/>
              </a:lnSpc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MIMO antennas are widely used to improve channel capacity, reliability, and spectral efficiency.</a:t>
            </a:r>
          </a:p>
          <a:p>
            <a:pPr algn="just"/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017CF8-B9E9-8CA7-A663-D29AA409D8BE}"/>
              </a:ext>
            </a:extLst>
          </p:cNvPr>
          <p:cNvSpPr txBox="1"/>
          <p:nvPr/>
        </p:nvSpPr>
        <p:spPr>
          <a:xfrm>
            <a:off x="381000" y="15240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Single Element: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3F9797-746B-2B48-2D44-3516A35C1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61741"/>
            <a:ext cx="2971800" cy="30420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05B3EF3-F928-5810-27F8-4E861AEB0AD7}"/>
              </a:ext>
            </a:extLst>
          </p:cNvPr>
          <p:cNvSpPr txBox="1"/>
          <p:nvPr/>
        </p:nvSpPr>
        <p:spPr>
          <a:xfrm>
            <a:off x="133739" y="453970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Figure 1: Proposed CPW UWB antenna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93C6BC4-E22C-6885-7A05-611C112BD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2412579"/>
            <a:ext cx="4953000" cy="171456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AAF6EF1-F68E-6051-AAA3-7140937ACD5B}"/>
              </a:ext>
            </a:extLst>
          </p:cNvPr>
          <p:cNvSpPr txBox="1"/>
          <p:nvPr/>
        </p:nvSpPr>
        <p:spPr>
          <a:xfrm>
            <a:off x="4114800" y="1806190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Table 1: Proposed antenna dimensions</a:t>
            </a:r>
          </a:p>
        </p:txBody>
      </p:sp>
    </p:spTree>
    <p:extLst>
      <p:ext uri="{BB962C8B-B14F-4D97-AF65-F5344CB8AC3E}">
        <p14:creationId xmlns:p14="http://schemas.microsoft.com/office/powerpoint/2010/main" val="219325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31C7AE-83BC-10C6-0C84-419302E0A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0"/>
            <a:ext cx="3673092" cy="37073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E0CB30-1F62-6C27-9041-9AD09BC2F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908" y="1430723"/>
            <a:ext cx="3444492" cy="3657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6B0D425-9AA6-1392-E717-5CA6A108C905}"/>
              </a:ext>
            </a:extLst>
          </p:cNvPr>
          <p:cNvSpPr txBox="1"/>
          <p:nvPr/>
        </p:nvSpPr>
        <p:spPr>
          <a:xfrm>
            <a:off x="685800" y="38100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MIMO Configuration</a:t>
            </a:r>
            <a:r>
              <a:rPr lang="en-IN" sz="2800" dirty="0"/>
              <a:t>:</a:t>
            </a:r>
            <a:endParaRPr lang="en-IN" sz="28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FC716E-034E-3B4B-3181-3BC816045A27}"/>
              </a:ext>
            </a:extLst>
          </p:cNvPr>
          <p:cNvSpPr txBox="1"/>
          <p:nvPr/>
        </p:nvSpPr>
        <p:spPr>
          <a:xfrm>
            <a:off x="762000" y="525015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(a) Structure 1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086E65-1666-A504-8239-05CF0DB68895}"/>
              </a:ext>
            </a:extLst>
          </p:cNvPr>
          <p:cNvSpPr txBox="1"/>
          <p:nvPr/>
        </p:nvSpPr>
        <p:spPr>
          <a:xfrm>
            <a:off x="5562600" y="525015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(b) Structure 2</a:t>
            </a:r>
          </a:p>
        </p:txBody>
      </p:sp>
    </p:spTree>
    <p:extLst>
      <p:ext uri="{BB962C8B-B14F-4D97-AF65-F5344CB8AC3E}">
        <p14:creationId xmlns:p14="http://schemas.microsoft.com/office/powerpoint/2010/main" val="3780318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39762"/>
          </a:xfrm>
        </p:spPr>
        <p:txBody>
          <a:bodyPr>
            <a:normAutofit fontScale="90000"/>
          </a:bodyPr>
          <a:lstStyle/>
          <a:p>
            <a:b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PROPOSED SYSTEM &amp; IT’S WORKING</a:t>
            </a:r>
            <a:b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9436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1371600" lvl="3" indent="0">
              <a:buNone/>
            </a:pPr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CD82D25-2C07-7E04-BBE2-1E8420419A88}"/>
              </a:ext>
            </a:extLst>
          </p:cNvPr>
          <p:cNvSpPr/>
          <p:nvPr/>
        </p:nvSpPr>
        <p:spPr>
          <a:xfrm>
            <a:off x="1066800" y="1434664"/>
            <a:ext cx="1219199" cy="8967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EB26092-26A4-D330-6DB8-23131C872BBB}"/>
              </a:ext>
            </a:extLst>
          </p:cNvPr>
          <p:cNvSpPr/>
          <p:nvPr/>
        </p:nvSpPr>
        <p:spPr>
          <a:xfrm>
            <a:off x="2763400" y="1427899"/>
            <a:ext cx="1500673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Select substrate material</a:t>
            </a:r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20EF5D1-E416-B437-F78D-38A108543672}"/>
              </a:ext>
            </a:extLst>
          </p:cNvPr>
          <p:cNvSpPr/>
          <p:nvPr/>
        </p:nvSpPr>
        <p:spPr>
          <a:xfrm>
            <a:off x="4736809" y="1434665"/>
            <a:ext cx="1572208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Create substrate and ground</a:t>
            </a:r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7D8B7EB-9884-70E6-FABC-FB8E8156E819}"/>
              </a:ext>
            </a:extLst>
          </p:cNvPr>
          <p:cNvSpPr/>
          <p:nvPr/>
        </p:nvSpPr>
        <p:spPr>
          <a:xfrm>
            <a:off x="6943531" y="1417020"/>
            <a:ext cx="1466461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Create patch and feedline</a:t>
            </a:r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57902D0-B9B1-B3DC-7550-6528F376F404}"/>
              </a:ext>
            </a:extLst>
          </p:cNvPr>
          <p:cNvSpPr/>
          <p:nvPr/>
        </p:nvSpPr>
        <p:spPr>
          <a:xfrm>
            <a:off x="3809222" y="3162300"/>
            <a:ext cx="1889449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Verify design model and its parameters</a:t>
            </a:r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52B732A-378D-691A-2D93-7279FA8DBA73}"/>
              </a:ext>
            </a:extLst>
          </p:cNvPr>
          <p:cNvSpPr/>
          <p:nvPr/>
        </p:nvSpPr>
        <p:spPr>
          <a:xfrm>
            <a:off x="1273560" y="3146947"/>
            <a:ext cx="1695066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HFSS simulation</a:t>
            </a:r>
            <a:endParaRPr lang="en-IN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DCF2722-02C2-188A-FA74-2ED1EAA192C5}"/>
              </a:ext>
            </a:extLst>
          </p:cNvPr>
          <p:cNvSpPr/>
          <p:nvPr/>
        </p:nvSpPr>
        <p:spPr>
          <a:xfrm>
            <a:off x="6504992" y="3012986"/>
            <a:ext cx="1905000" cy="11551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Assign excitation and boundary </a:t>
            </a:r>
            <a:endParaRPr lang="en-IN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7A36C1ED-41EC-0A03-217C-17780011BAD9}"/>
              </a:ext>
            </a:extLst>
          </p:cNvPr>
          <p:cNvSpPr/>
          <p:nvPr/>
        </p:nvSpPr>
        <p:spPr>
          <a:xfrm>
            <a:off x="2285999" y="1695715"/>
            <a:ext cx="472736" cy="43788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9E40A52-38C8-2897-5E81-F3E1CCA76266}"/>
              </a:ext>
            </a:extLst>
          </p:cNvPr>
          <p:cNvSpPr/>
          <p:nvPr/>
        </p:nvSpPr>
        <p:spPr>
          <a:xfrm>
            <a:off x="4276535" y="1828800"/>
            <a:ext cx="468071" cy="30480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3072AFA4-0F5F-D664-95D8-E6956D8C7B9A}"/>
              </a:ext>
            </a:extLst>
          </p:cNvPr>
          <p:cNvSpPr/>
          <p:nvPr/>
        </p:nvSpPr>
        <p:spPr>
          <a:xfrm>
            <a:off x="6309018" y="1828800"/>
            <a:ext cx="634514" cy="30480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6C134305-2DEC-879C-D935-191F2215723B}"/>
              </a:ext>
            </a:extLst>
          </p:cNvPr>
          <p:cNvSpPr/>
          <p:nvPr/>
        </p:nvSpPr>
        <p:spPr>
          <a:xfrm>
            <a:off x="7467600" y="2342299"/>
            <a:ext cx="304800" cy="670687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F1E951CF-E3BA-B704-89F5-035D38C675D4}"/>
              </a:ext>
            </a:extLst>
          </p:cNvPr>
          <p:cNvSpPr/>
          <p:nvPr/>
        </p:nvSpPr>
        <p:spPr>
          <a:xfrm flipH="1">
            <a:off x="5689308" y="3339665"/>
            <a:ext cx="815683" cy="47033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C2364D3F-9936-A9FB-F4E4-DEBCFB743D3C}"/>
              </a:ext>
            </a:extLst>
          </p:cNvPr>
          <p:cNvSpPr/>
          <p:nvPr/>
        </p:nvSpPr>
        <p:spPr>
          <a:xfrm flipH="1">
            <a:off x="2968625" y="3429000"/>
            <a:ext cx="815683" cy="38100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991DC07-39F5-08CF-C69C-C5CD497CCEB8}"/>
              </a:ext>
            </a:extLst>
          </p:cNvPr>
          <p:cNvSpPr/>
          <p:nvPr/>
        </p:nvSpPr>
        <p:spPr>
          <a:xfrm>
            <a:off x="1181466" y="4574297"/>
            <a:ext cx="1789938" cy="102727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Fabrication process</a:t>
            </a:r>
            <a:endParaRPr lang="en-IN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5972589-AB15-9232-2C73-5174D91118FE}"/>
              </a:ext>
            </a:extLst>
          </p:cNvPr>
          <p:cNvSpPr/>
          <p:nvPr/>
        </p:nvSpPr>
        <p:spPr>
          <a:xfrm>
            <a:off x="3782772" y="4630736"/>
            <a:ext cx="1578456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VNA Testing</a:t>
            </a:r>
            <a:endParaRPr lang="en-IN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4288B00-006C-DB62-0601-0DC85C86808B}"/>
              </a:ext>
            </a:extLst>
          </p:cNvPr>
          <p:cNvSpPr/>
          <p:nvPr/>
        </p:nvSpPr>
        <p:spPr>
          <a:xfrm>
            <a:off x="6275011" y="4460309"/>
            <a:ext cx="1980423" cy="120000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Validate performance for WIFI/WiMAX  applications</a:t>
            </a:r>
            <a:endParaRPr lang="en-IN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D08C07C-F607-6A24-53A6-9C69A6803632}"/>
              </a:ext>
            </a:extLst>
          </p:cNvPr>
          <p:cNvSpPr/>
          <p:nvPr/>
        </p:nvSpPr>
        <p:spPr>
          <a:xfrm>
            <a:off x="6943531" y="6053380"/>
            <a:ext cx="838200" cy="6096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END </a:t>
            </a:r>
            <a:endParaRPr lang="en-IN" dirty="0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BDB451AC-3980-52A0-498F-E4A54D3A918A}"/>
              </a:ext>
            </a:extLst>
          </p:cNvPr>
          <p:cNvSpPr/>
          <p:nvPr/>
        </p:nvSpPr>
        <p:spPr>
          <a:xfrm>
            <a:off x="1878777" y="4061347"/>
            <a:ext cx="484632" cy="503238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66FC4AAE-9F2C-E278-BAFB-4F678F976EBE}"/>
              </a:ext>
            </a:extLst>
          </p:cNvPr>
          <p:cNvSpPr/>
          <p:nvPr/>
        </p:nvSpPr>
        <p:spPr>
          <a:xfrm>
            <a:off x="2981645" y="4840064"/>
            <a:ext cx="790886" cy="49574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48FFA2D8-79B9-359B-C2A3-D2BB6B3363FF}"/>
              </a:ext>
            </a:extLst>
          </p:cNvPr>
          <p:cNvSpPr/>
          <p:nvPr/>
        </p:nvSpPr>
        <p:spPr>
          <a:xfrm>
            <a:off x="5361228" y="4872471"/>
            <a:ext cx="913783" cy="46152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5D4A004D-2D73-3830-58AD-DC21C244F108}"/>
              </a:ext>
            </a:extLst>
          </p:cNvPr>
          <p:cNvSpPr/>
          <p:nvPr/>
        </p:nvSpPr>
        <p:spPr>
          <a:xfrm>
            <a:off x="7127399" y="5660311"/>
            <a:ext cx="416401" cy="39307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EXPECTED OUTCOMES</a:t>
            </a:r>
            <a:b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total efficiency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above 8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%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 the resonance bandwidth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MIMO performance metrics (ECC, MEG, DG) within acceptable limits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Suitability of the proposed UWB–MIMO antenna for diverse UWB wireless applications.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Arrange elements more symmetrically for stable polarization.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simple matching methods to cover more frequency range.</a:t>
            </a:r>
          </a:p>
          <a:p>
            <a:pPr marL="0" indent="0"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173" y="838200"/>
            <a:ext cx="8229600" cy="6278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Software:</a:t>
            </a:r>
            <a:b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High-frequency structure simulator (HFSS)Software.</a:t>
            </a:r>
          </a:p>
          <a:p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Antenna fabrication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Vector Network Analyzer (VNA) Hardware testing.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439057" y="152400"/>
            <a:ext cx="840014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REQUIREMENTS: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12838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ADVANTAGES </a:t>
            </a:r>
            <a:b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size, easy to fit in devices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antennas improve signal quality and reliability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structure reduces interference between antennas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good signal strength (gain)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cost because it uses FR4 material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many wireless applications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APPLICATIONS</a:t>
            </a:r>
            <a:b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8229600" cy="4983163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communication systems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High-speed data transfer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and portable devices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sensor networks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 and imaging systems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of Things (IoT) devices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monitoring and imaging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  <a:br>
              <a:rPr lang="en-US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7388"/>
            <a:ext cx="8229600" cy="5668963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A. A. Ibrahim and M. F. Abo Sree, “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Uwb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Mimo Antenna with 4-element, Compact Size, High Isolation and Single Band Rejection for High-Speed Wireless Networks,” Wireless Networks 28, no. 7(2022): 3143–3155, h</a:t>
            </a:r>
          </a:p>
          <a:p>
            <a:pPr marL="0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C. Suresh, T. S. Reddy, B. T. P. Madhav, et al., “A Novel Design of Spike-Shaped Miniaturized 4 × 4 MIMO Antenna for Wireless UWB Network Applications Using Characteristic Mode Analysis,” Micromachines 14, no. 3 (2023): 612, https:// do</a:t>
            </a:r>
          </a:p>
          <a:p>
            <a:pPr marL="0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A. C. Suresh, T. S. Reddy, B. T. P. Madhav, et al., “A Novel Design of Spike-Shaped Miniaturized 4 × 4 MIMO Antenna for Wireless UWB Network Applications Using Characteristic Mode Analysis,” Micromachines 14, no. 3 (2023): 612, https:// doi.org/10.3390/mi14030612.i.org/10.3390/mi14030612.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ttps://doi.org/10.1007/ s11276-022-03019-4.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Addepalli, G. N. Kumar, C. J. Rani, et al., “A Defected Substrate 4-Element MIMO Antenna With Higher Diversity Characteristics for 5G Sub-6 GHz N77/N78 Band Applications,” Wireless Networks 31, no. 2 (2024): 1931–1947, https:// doi.org/10.1007/s11276-024-03864-5.</a:t>
            </a:r>
          </a:p>
          <a:p>
            <a:pPr marL="0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C.S. Anki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reddy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T.S. Reddy, and B .Madhav, “Design and Verification of an Umbrella Shaped Narrow Band-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Uwb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Antenna Pair for Mimo Applications Using Characteristic Mode Analysis ,” E-Prime-Advances in Electrical Engineering, Electronics and Energy 8 (2024): 100545, https://doi.org/ 10.1016/j.prime.2024.100545.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lphaUcPeriod"/>
            </a:pP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440362"/>
          </a:xfrm>
        </p:spPr>
        <p:txBody>
          <a:bodyPr>
            <a:normAutofit/>
          </a:bodyPr>
          <a:lstStyle/>
          <a:p>
            <a:r>
              <a:rPr lang="en-US" sz="6600" b="1" dirty="0">
                <a:latin typeface="Times New Roman" pitchFamily="18" charset="0"/>
                <a:cs typeface="Times New Roman" pitchFamily="18" charset="0"/>
              </a:rPr>
              <a:t>QUERIES 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38400"/>
            <a:ext cx="8229600" cy="3687763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6600" b="1" dirty="0">
                <a:latin typeface="Times New Roman" pitchFamily="18" charset="0"/>
                <a:cs typeface="Times New Roman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782</TotalTime>
  <Words>928</Words>
  <Application>Microsoft Office PowerPoint</Application>
  <PresentationFormat>On-screen Show (4:3)</PresentationFormat>
  <Paragraphs>94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Bookman Old Style</vt:lpstr>
      <vt:lpstr>Calibri</vt:lpstr>
      <vt:lpstr>Times New Roman</vt:lpstr>
      <vt:lpstr>Office Theme</vt:lpstr>
      <vt:lpstr>Four-Element UWB MIMO Antenna System With a Square Frame Decoupling Structure for Enhanced Isolation and Polarization Diversity Characteristics</vt:lpstr>
      <vt:lpstr>CONTENTS</vt:lpstr>
      <vt:lpstr>ABSTRACT</vt:lpstr>
      <vt:lpstr> EXISTING SYSTEM </vt:lpstr>
      <vt:lpstr>PowerPoint Presentation</vt:lpstr>
      <vt:lpstr>PowerPoint Presentation</vt:lpstr>
      <vt:lpstr> PROPOSED SYSTEM &amp; IT’S WORKING </vt:lpstr>
      <vt:lpstr>EXPECTED OUTCOMES </vt:lpstr>
      <vt:lpstr>PowerPoint Presentation</vt:lpstr>
      <vt:lpstr>ADVANTAGES  </vt:lpstr>
      <vt:lpstr>APPLICATIONS </vt:lpstr>
      <vt:lpstr>REFERENCES </vt:lpstr>
      <vt:lpstr>QUERIES 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OF ALERTING DRIVER USING LPC 2148 AND BUS ARRIVAL TIME MONITORING SYSTEM”</dc:title>
  <dc:creator>USHARAMA</dc:creator>
  <cp:lastModifiedBy>lakshmi durga</cp:lastModifiedBy>
  <cp:revision>29</cp:revision>
  <dcterms:created xsi:type="dcterms:W3CDTF">2006-08-16T00:00:00Z</dcterms:created>
  <dcterms:modified xsi:type="dcterms:W3CDTF">2025-09-11T13:51:06Z</dcterms:modified>
</cp:coreProperties>
</file>