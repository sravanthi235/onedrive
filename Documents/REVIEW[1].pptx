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57" r:id="rId3"/>
    <p:sldId id="258" r:id="rId4"/>
    <p:sldId id="260" r:id="rId5"/>
    <p:sldId id="272" r:id="rId6"/>
    <p:sldId id="273" r:id="rId7"/>
    <p:sldId id="275" r:id="rId8"/>
    <p:sldId id="274" r:id="rId9"/>
    <p:sldId id="262" r:id="rId10"/>
    <p:sldId id="270" r:id="rId11"/>
    <p:sldId id="263" r:id="rId12"/>
    <p:sldId id="265" r:id="rId13"/>
    <p:sldId id="266" r:id="rId14"/>
    <p:sldId id="267" r:id="rId15"/>
    <p:sldId id="268" r:id="rId16"/>
    <p:sldId id="269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F8D311-F541-4137-8D85-770D424423ED}" v="19" dt="2025-09-11T13:39:09.4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33" autoAdjust="0"/>
  </p:normalViewPr>
  <p:slideViewPr>
    <p:cSldViewPr>
      <p:cViewPr varScale="1">
        <p:scale>
          <a:sx n="82" d="100"/>
          <a:sy n="82" d="100"/>
        </p:scale>
        <p:origin x="147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1600200"/>
          </a:xfrm>
        </p:spPr>
        <p:txBody>
          <a:bodyPr>
            <a:noAutofit/>
          </a:bodyPr>
          <a:lstStyle/>
          <a:p>
            <a:r>
              <a:rPr lang="en-US" sz="2800" b="1" dirty="0"/>
              <a:t>Four-Element UWB MIMO Antenna System With a Square Frame Decoupling Structure for Enhanced Isolation and Polarization Diversity Characteristics</a:t>
            </a:r>
            <a:endParaRPr lang="en-US" sz="2800" b="1" dirty="0">
              <a:solidFill>
                <a:srgbClr val="FF0000"/>
              </a:solidFill>
              <a:latin typeface="Bookman Old Style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1600199"/>
            <a:ext cx="8382000" cy="3505201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by  </a:t>
            </a:r>
          </a:p>
          <a:p>
            <a:r>
              <a:rPr lang="en-US" sz="28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Batch no: C5</a:t>
            </a:r>
          </a:p>
          <a:p>
            <a:pPr algn="l"/>
            <a:r>
              <a:rPr lang="en-US" sz="2800" b="1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		</a:t>
            </a:r>
            <a:r>
              <a:rPr lang="en-US" sz="22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T.LAKSHMI</a:t>
            </a:r>
            <a:r>
              <a:rPr lang="en-US" sz="2200" b="1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 </a:t>
            </a:r>
            <a:r>
              <a:rPr lang="en-US" sz="22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DURGA</a:t>
            </a:r>
            <a:r>
              <a:rPr lang="en-US" sz="2200" b="1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           </a:t>
            </a:r>
            <a:r>
              <a:rPr lang="en-US" sz="22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(23NG5A0427)</a:t>
            </a:r>
          </a:p>
          <a:p>
            <a:pPr algn="l"/>
            <a:r>
              <a:rPr lang="en-US" sz="22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		D.KISHORE		        (22NG1A04F1)</a:t>
            </a:r>
          </a:p>
          <a:p>
            <a:pPr algn="l"/>
            <a:r>
              <a:rPr lang="en-US" sz="22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 		SK.NAGUR SAIDA	        (23NG5A0423)</a:t>
            </a:r>
          </a:p>
          <a:p>
            <a:pPr algn="l"/>
            <a:r>
              <a:rPr lang="en-US" sz="22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		K.SYAM PRASAD	        (22NG1A04G0)</a:t>
            </a:r>
          </a:p>
          <a:p>
            <a:r>
              <a:rPr lang="en-US" sz="20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        Under the Esteemed Guidance of</a:t>
            </a:r>
          </a:p>
          <a:p>
            <a:r>
              <a:rPr lang="en-US" sz="20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	</a:t>
            </a:r>
            <a:r>
              <a:rPr lang="en-US" sz="2000" b="1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Dr. A. Suneel Kumar </a:t>
            </a:r>
            <a:r>
              <a:rPr lang="en-US" sz="2000" b="1" dirty="0" err="1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M.Tech</a:t>
            </a:r>
            <a:r>
              <a:rPr lang="en-US" sz="2000" b="1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, </a:t>
            </a:r>
            <a:r>
              <a:rPr lang="en-US" sz="2000" b="1" dirty="0" err="1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Ph.D</a:t>
            </a:r>
            <a:endParaRPr lang="en-US" sz="2000" b="1" dirty="0">
              <a:solidFill>
                <a:schemeClr val="tx1"/>
              </a:solidFill>
              <a:latin typeface="Bookman Old Style" pitchFamily="18" charset="0"/>
              <a:cs typeface="Times New Roman" pitchFamily="18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Associate professor</a:t>
            </a:r>
            <a:endParaRPr lang="en-US" b="1" dirty="0">
              <a:solidFill>
                <a:schemeClr val="tx1"/>
              </a:solidFill>
              <a:latin typeface="Bookman Old Style" pitchFamily="18" charset="0"/>
              <a:cs typeface="Times New Roman" pitchFamily="18" charset="0"/>
            </a:endParaRPr>
          </a:p>
        </p:txBody>
      </p:sp>
      <p:pic>
        <p:nvPicPr>
          <p:cNvPr id="4" name="Picture 3" descr="C:\Users\ECE-HOD\Desktop\logo.jpg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169"/>
          <a:stretch/>
        </p:blipFill>
        <p:spPr bwMode="auto">
          <a:xfrm>
            <a:off x="609600" y="5410200"/>
            <a:ext cx="784860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76200" y="4964668"/>
            <a:ext cx="8915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>
                <a:solidFill>
                  <a:srgbClr val="0000FF"/>
                </a:solidFill>
                <a:latin typeface="Bookman Old Style" pitchFamily="18" charset="0"/>
              </a:rPr>
              <a:t>  </a:t>
            </a:r>
            <a:r>
              <a:rPr lang="en-IN" sz="2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itchFamily="18" charset="0"/>
              </a:rPr>
              <a:t>Department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704050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458200" cy="62484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Existing system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Proposed system Block Diagram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Expected outcomes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Requirements: Software / &amp; Hardware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Advantages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Applications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References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1.ABSTRACT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6485" y="1143000"/>
            <a:ext cx="8229600" cy="5181600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cost-effective antenna is proposed for Ultrawideband (UWB) applications, focusing on compactness and performance.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Achieves a wide operating range from 3.7 GHz to 15.7 GHz (12 GHz bandwidth)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four-element MIMO setup is arranged orthogonally to enhance diversity and spatial performance.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MIMO mode, bandwidth improves to 2.9 GHz to 16.2 GHz, covering more UWB spectrum.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Delivers a maximum gain of 5.5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14 GHz with &gt;80% total efficiency across the resonance band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Compact design — 20×26 mm² for a single element and 46×48 mm² for the full MIMO array.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39762"/>
          </a:xfrm>
        </p:spPr>
        <p:txBody>
          <a:bodyPr>
            <a:normAutofit fontScale="90000"/>
          </a:bodyPr>
          <a:lstStyle/>
          <a:p>
            <a:br>
              <a:rPr lang="en-US" sz="36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2.EXISTING SYSTEM</a:t>
            </a:r>
            <a:b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fontScale="250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element UWB antennas like monopole and slot designs supported wide bandwidth but lacked MIMO diversity.</a:t>
            </a:r>
          </a:p>
          <a:p>
            <a:pPr algn="just">
              <a:lnSpc>
                <a:spcPct val="120000"/>
              </a:lnSpc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Multi-element MIMO antennas suffered from strong mutual coupling when elements were placed close together.</a:t>
            </a:r>
          </a:p>
          <a:p>
            <a:pPr algn="just">
              <a:lnSpc>
                <a:spcPct val="120000"/>
              </a:lnSpc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designs used a common ground plane without modification, which reduced isolation.</a:t>
            </a:r>
          </a:p>
          <a:p>
            <a:pPr algn="just">
              <a:lnSpc>
                <a:spcPct val="120000"/>
              </a:lnSpc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operating bandwidth was often limited to around 3–10 GHz, not covering higher frequencies.</a:t>
            </a:r>
          </a:p>
          <a:p>
            <a:pPr algn="just">
              <a:lnSpc>
                <a:spcPct val="120000"/>
              </a:lnSpc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Antenna size was relatively large, making it unsuitable for compact devices.</a:t>
            </a:r>
          </a:p>
          <a:p>
            <a:pPr algn="just">
              <a:lnSpc>
                <a:spcPct val="120000"/>
              </a:lnSpc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systems used multilayer substrates or expensive materials, making them less cost-effective.</a:t>
            </a:r>
          </a:p>
          <a:p>
            <a:pPr algn="just">
              <a:lnSpc>
                <a:spcPct val="120000"/>
              </a:lnSpc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MIMO antennas are widely used to improve channel capacity, reliability, and spectral efficiency.</a:t>
            </a:r>
          </a:p>
          <a:p>
            <a:pPr algn="just"/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017CF8-B9E9-8CA7-A663-D29AA409D8BE}"/>
              </a:ext>
            </a:extLst>
          </p:cNvPr>
          <p:cNvSpPr txBox="1"/>
          <p:nvPr/>
        </p:nvSpPr>
        <p:spPr>
          <a:xfrm>
            <a:off x="381000" y="15240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Single Element Antenna: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3F9797-746B-2B48-2D44-3516A35C1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12" y="700034"/>
            <a:ext cx="3267888" cy="30420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05B3EF3-F928-5810-27F8-4E861AEB0AD7}"/>
              </a:ext>
            </a:extLst>
          </p:cNvPr>
          <p:cNvSpPr txBox="1"/>
          <p:nvPr/>
        </p:nvSpPr>
        <p:spPr>
          <a:xfrm>
            <a:off x="144006" y="375631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Figure 1: Proposed CPW UWB antenna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93C6BC4-E22C-6885-7A05-611C112BD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7811" y="1311560"/>
            <a:ext cx="5105400" cy="18823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AAF6EF1-F68E-6051-AAA3-7140937ACD5B}"/>
              </a:ext>
            </a:extLst>
          </p:cNvPr>
          <p:cNvSpPr txBox="1"/>
          <p:nvPr/>
        </p:nvSpPr>
        <p:spPr>
          <a:xfrm>
            <a:off x="3410505" y="742173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Table 1: Proposed antenna dimensions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1DAD4F7-9DB3-40D8-B3F7-B41635A460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546" y="3352800"/>
            <a:ext cx="3582454" cy="294072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6AF31A9-5C6F-4197-BD65-5927F98AFAB8}"/>
              </a:ext>
            </a:extLst>
          </p:cNvPr>
          <p:cNvSpPr/>
          <p:nvPr/>
        </p:nvSpPr>
        <p:spPr>
          <a:xfrm>
            <a:off x="3962400" y="6293527"/>
            <a:ext cx="53776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Figure 2: Design evolution of the UWB antenna.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3F6944-C4F8-F816-6C61-B32BBA28A5DA}"/>
              </a:ext>
            </a:extLst>
          </p:cNvPr>
          <p:cNvSpPr txBox="1"/>
          <p:nvPr/>
        </p:nvSpPr>
        <p:spPr>
          <a:xfrm>
            <a:off x="381000" y="4208567"/>
            <a:ext cx="358245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curves are shown: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/>
              <a:t>Stage 1 (dotted blue line)</a:t>
            </a:r>
            <a:r>
              <a:rPr lang="en-US" dirty="0"/>
              <a:t> : initial design of the antenna.</a:t>
            </a:r>
          </a:p>
          <a:p>
            <a:r>
              <a:rPr lang="en-US" b="1" dirty="0"/>
              <a:t>Stage 2 (dashed green line)</a:t>
            </a:r>
            <a:r>
              <a:rPr lang="en-US" dirty="0"/>
              <a:t> : improved design.</a:t>
            </a:r>
          </a:p>
          <a:p>
            <a:r>
              <a:rPr lang="en-US" b="1" dirty="0"/>
              <a:t>Stage 3 (solid red line)</a:t>
            </a:r>
            <a:r>
              <a:rPr lang="en-US" dirty="0"/>
              <a:t> : final optimized antenna.</a:t>
            </a:r>
          </a:p>
        </p:txBody>
      </p:sp>
    </p:spTree>
    <p:extLst>
      <p:ext uri="{BB962C8B-B14F-4D97-AF65-F5344CB8AC3E}">
        <p14:creationId xmlns:p14="http://schemas.microsoft.com/office/powerpoint/2010/main" val="219325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6B0D425-9AA6-1392-E717-5CA6A108C905}"/>
              </a:ext>
            </a:extLst>
          </p:cNvPr>
          <p:cNvSpPr txBox="1"/>
          <p:nvPr/>
        </p:nvSpPr>
        <p:spPr>
          <a:xfrm>
            <a:off x="304800" y="276792"/>
            <a:ext cx="7391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 Four-Port MIMO Antenna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707CAF-D448-4EED-8737-77CF8A69EC82}"/>
              </a:ext>
            </a:extLst>
          </p:cNvPr>
          <p:cNvSpPr/>
          <p:nvPr/>
        </p:nvSpPr>
        <p:spPr>
          <a:xfrm>
            <a:off x="685800" y="4978795"/>
            <a:ext cx="8001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Figure 3: UWB MIMO with connected ground plane: (a) Structure 1 and (b) Structure 2.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AF54E3-5D42-4F09-8919-FAEC239AB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43000"/>
            <a:ext cx="6858000" cy="363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318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F7BDC7E-6F55-403B-A4CD-27A990594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685800"/>
            <a:ext cx="5715000" cy="3429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1F61BCD-CB0D-40C5-AFBE-E0E993417F76}"/>
              </a:ext>
            </a:extLst>
          </p:cNvPr>
          <p:cNvSpPr/>
          <p:nvPr/>
        </p:nvSpPr>
        <p:spPr>
          <a:xfrm>
            <a:off x="1295400" y="4097694"/>
            <a:ext cx="5715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Figure 4: simulated S-parameters reflection coefficients.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F85567-F7EB-45CE-8485-E439EB335673}"/>
              </a:ext>
            </a:extLst>
          </p:cNvPr>
          <p:cNvSpPr/>
          <p:nvPr/>
        </p:nvSpPr>
        <p:spPr>
          <a:xfrm>
            <a:off x="685800" y="306508"/>
            <a:ext cx="36567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2.3 Existing System Result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DA455CB-FD21-D62F-1F20-979A54330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485" y="4343400"/>
            <a:ext cx="845903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diagram shows the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 loss (reflection coefficient) of all 4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antenna elements in a UWB MIMO system.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All four ports (S1,1 / S2,2 / S3,3 / S4,4) have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good matching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cover a wide range of frequencies 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dips (deep valleys) show the frequencies where the antenna radiates most efficiently.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734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DBD461-5EAA-9864-8CA1-807DDFE74E12}"/>
              </a:ext>
            </a:extLst>
          </p:cNvPr>
          <p:cNvSpPr txBox="1"/>
          <p:nvPr/>
        </p:nvSpPr>
        <p:spPr>
          <a:xfrm>
            <a:off x="762000" y="1386244"/>
            <a:ext cx="7772400" cy="453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 gain.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efficiency at higher frequencies.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/>
              <a:t>Efficiency slightly drops at extreme frequencies.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/>
              <a:t>Antenna footprint increases in MIMO configuration.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/>
              <a:t>Parasitic element adds design complexity.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C8BA62-EC25-DC0A-8D45-31DDACAAEA9F}"/>
              </a:ext>
            </a:extLst>
          </p:cNvPr>
          <p:cNvSpPr txBox="1"/>
          <p:nvPr/>
        </p:nvSpPr>
        <p:spPr>
          <a:xfrm>
            <a:off x="304800" y="616803"/>
            <a:ext cx="5867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2.4 Existing System Drawbacks:</a:t>
            </a:r>
            <a:b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941648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39762"/>
          </a:xfrm>
        </p:spPr>
        <p:txBody>
          <a:bodyPr>
            <a:normAutofit fontScale="90000"/>
          </a:bodyPr>
          <a:lstStyle/>
          <a:p>
            <a:b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3.PROPOSED SYSTEM &amp; IT’S WORKING</a:t>
            </a:r>
            <a:b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9436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1371600" lvl="3" indent="0">
              <a:buNone/>
            </a:pPr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CD82D25-2C07-7E04-BBE2-1E8420419A88}"/>
              </a:ext>
            </a:extLst>
          </p:cNvPr>
          <p:cNvSpPr/>
          <p:nvPr/>
        </p:nvSpPr>
        <p:spPr>
          <a:xfrm>
            <a:off x="1066800" y="1434664"/>
            <a:ext cx="1219199" cy="8967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EB26092-26A4-D330-6DB8-23131C872BBB}"/>
              </a:ext>
            </a:extLst>
          </p:cNvPr>
          <p:cNvSpPr/>
          <p:nvPr/>
        </p:nvSpPr>
        <p:spPr>
          <a:xfrm>
            <a:off x="2763400" y="1427899"/>
            <a:ext cx="1500673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Select Application and Select substrate</a:t>
            </a:r>
            <a:endParaRPr lang="en-IN" sz="16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20EF5D1-E416-B437-F78D-38A108543672}"/>
              </a:ext>
            </a:extLst>
          </p:cNvPr>
          <p:cNvSpPr/>
          <p:nvPr/>
        </p:nvSpPr>
        <p:spPr>
          <a:xfrm>
            <a:off x="4736809" y="1434665"/>
            <a:ext cx="1572208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Create substrate and ground</a:t>
            </a:r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7D8B7EB-9884-70E6-FABC-FB8E8156E819}"/>
              </a:ext>
            </a:extLst>
          </p:cNvPr>
          <p:cNvSpPr/>
          <p:nvPr/>
        </p:nvSpPr>
        <p:spPr>
          <a:xfrm>
            <a:off x="6943531" y="1427898"/>
            <a:ext cx="1466461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Create patch and feedline</a:t>
            </a:r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57902D0-B9B1-B3DC-7550-6528F376F404}"/>
              </a:ext>
            </a:extLst>
          </p:cNvPr>
          <p:cNvSpPr/>
          <p:nvPr/>
        </p:nvSpPr>
        <p:spPr>
          <a:xfrm>
            <a:off x="3941570" y="3153568"/>
            <a:ext cx="1889449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Verify design model and its parameters</a:t>
            </a:r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52B732A-378D-691A-2D93-7279FA8DBA73}"/>
              </a:ext>
            </a:extLst>
          </p:cNvPr>
          <p:cNvSpPr/>
          <p:nvPr/>
        </p:nvSpPr>
        <p:spPr>
          <a:xfrm>
            <a:off x="1380409" y="3137235"/>
            <a:ext cx="1695066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HFSS simulation</a:t>
            </a:r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DCF2722-02C2-188A-FA74-2ED1EAA192C5}"/>
              </a:ext>
            </a:extLst>
          </p:cNvPr>
          <p:cNvSpPr/>
          <p:nvPr/>
        </p:nvSpPr>
        <p:spPr>
          <a:xfrm>
            <a:off x="6679162" y="3026580"/>
            <a:ext cx="1905000" cy="11551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Assign excitation and boundary </a:t>
            </a:r>
            <a:endParaRPr lang="en-IN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A36C1ED-41EC-0A03-217C-17780011BAD9}"/>
              </a:ext>
            </a:extLst>
          </p:cNvPr>
          <p:cNvSpPr/>
          <p:nvPr/>
        </p:nvSpPr>
        <p:spPr>
          <a:xfrm>
            <a:off x="2285999" y="1653338"/>
            <a:ext cx="472736" cy="43788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9E40A52-38C8-2897-5E81-F3E1CCA76266}"/>
              </a:ext>
            </a:extLst>
          </p:cNvPr>
          <p:cNvSpPr/>
          <p:nvPr/>
        </p:nvSpPr>
        <p:spPr>
          <a:xfrm>
            <a:off x="4267182" y="1739465"/>
            <a:ext cx="468071" cy="3048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3072AFA4-0F5F-D664-95D8-E6956D8C7B9A}"/>
              </a:ext>
            </a:extLst>
          </p:cNvPr>
          <p:cNvSpPr/>
          <p:nvPr/>
        </p:nvSpPr>
        <p:spPr>
          <a:xfrm>
            <a:off x="6309017" y="1697596"/>
            <a:ext cx="634514" cy="3048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6C134305-2DEC-879C-D935-191F2215723B}"/>
              </a:ext>
            </a:extLst>
          </p:cNvPr>
          <p:cNvSpPr/>
          <p:nvPr/>
        </p:nvSpPr>
        <p:spPr>
          <a:xfrm>
            <a:off x="7534080" y="2342298"/>
            <a:ext cx="304800" cy="670687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F1E951CF-E3BA-B704-89F5-035D38C675D4}"/>
              </a:ext>
            </a:extLst>
          </p:cNvPr>
          <p:cNvSpPr/>
          <p:nvPr/>
        </p:nvSpPr>
        <p:spPr>
          <a:xfrm flipH="1">
            <a:off x="5858814" y="3373249"/>
            <a:ext cx="815683" cy="47033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C2364D3F-9936-A9FB-F4E4-DEBCFB743D3C}"/>
              </a:ext>
            </a:extLst>
          </p:cNvPr>
          <p:cNvSpPr/>
          <p:nvPr/>
        </p:nvSpPr>
        <p:spPr>
          <a:xfrm flipH="1">
            <a:off x="3093427" y="3429000"/>
            <a:ext cx="815683" cy="3810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991DC07-39F5-08CF-C69C-C5CD497CCEB8}"/>
              </a:ext>
            </a:extLst>
          </p:cNvPr>
          <p:cNvSpPr/>
          <p:nvPr/>
        </p:nvSpPr>
        <p:spPr>
          <a:xfrm>
            <a:off x="1280650" y="4584008"/>
            <a:ext cx="1789938" cy="102727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Fabrication process</a:t>
            </a:r>
            <a:endParaRPr lang="en-IN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5972589-AB15-9232-2C73-5174D91118FE}"/>
              </a:ext>
            </a:extLst>
          </p:cNvPr>
          <p:cNvSpPr/>
          <p:nvPr/>
        </p:nvSpPr>
        <p:spPr>
          <a:xfrm>
            <a:off x="3907152" y="4657667"/>
            <a:ext cx="1578456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VNA Testing</a:t>
            </a:r>
          </a:p>
          <a:p>
            <a:pPr algn="ctr"/>
            <a:r>
              <a:rPr lang="en-US" dirty="0"/>
              <a:t>(S11,VSWR)</a:t>
            </a:r>
          </a:p>
          <a:p>
            <a:pPr algn="ctr"/>
            <a:endParaRPr lang="en-IN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4288B00-006C-DB62-0601-0DC85C86808B}"/>
              </a:ext>
            </a:extLst>
          </p:cNvPr>
          <p:cNvSpPr/>
          <p:nvPr/>
        </p:nvSpPr>
        <p:spPr>
          <a:xfrm>
            <a:off x="6429569" y="4483268"/>
            <a:ext cx="1980423" cy="120000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Validate performance for UWB applications</a:t>
            </a:r>
            <a:endParaRPr lang="en-IN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D08C07C-F607-6A24-53A6-9C69A6803632}"/>
              </a:ext>
            </a:extLst>
          </p:cNvPr>
          <p:cNvSpPr/>
          <p:nvPr/>
        </p:nvSpPr>
        <p:spPr>
          <a:xfrm>
            <a:off x="7000680" y="6076339"/>
            <a:ext cx="838200" cy="6096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END </a:t>
            </a:r>
            <a:endParaRPr lang="en-IN" dirty="0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BDB451AC-3980-52A0-498F-E4A54D3A918A}"/>
              </a:ext>
            </a:extLst>
          </p:cNvPr>
          <p:cNvSpPr/>
          <p:nvPr/>
        </p:nvSpPr>
        <p:spPr>
          <a:xfrm>
            <a:off x="1878777" y="4061347"/>
            <a:ext cx="484632" cy="503238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66FC4AAE-9F2C-E278-BAFB-4F678F976EBE}"/>
              </a:ext>
            </a:extLst>
          </p:cNvPr>
          <p:cNvSpPr/>
          <p:nvPr/>
        </p:nvSpPr>
        <p:spPr>
          <a:xfrm>
            <a:off x="3093427" y="4835398"/>
            <a:ext cx="790886" cy="49574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48FFA2D8-79B9-359B-C2A3-D2BB6B3363FF}"/>
              </a:ext>
            </a:extLst>
          </p:cNvPr>
          <p:cNvSpPr/>
          <p:nvPr/>
        </p:nvSpPr>
        <p:spPr>
          <a:xfrm>
            <a:off x="5508447" y="4879237"/>
            <a:ext cx="913783" cy="46152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5D4A004D-2D73-3830-58AD-DC21C244F108}"/>
              </a:ext>
            </a:extLst>
          </p:cNvPr>
          <p:cNvSpPr/>
          <p:nvPr/>
        </p:nvSpPr>
        <p:spPr>
          <a:xfrm>
            <a:off x="7203599" y="5683269"/>
            <a:ext cx="416401" cy="39307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5334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4.EXPECTED OUTCOMES</a:t>
            </a:r>
            <a:b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total efficiency above 85% across the resonance bandwidth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MIMO performance metrics (ECC, MEG, DG) within acceptable limits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Suitability of the proposed UWB–MIMO antenna for diverse UWB wireless applications.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Arrange elements more symmetrically for stable polarization.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simple matching methods to cover more frequency range.</a:t>
            </a:r>
          </a:p>
          <a:p>
            <a:pPr marL="0" indent="0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173" y="838200"/>
            <a:ext cx="8229600" cy="6278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Software:</a:t>
            </a:r>
            <a:b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High-frequency structure simulator (HFSS)Software.</a:t>
            </a:r>
          </a:p>
          <a:p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Antenna fabrication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Vector Network Analyzer (VNA) Hardware testing.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439057" y="152400"/>
            <a:ext cx="840014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5.REQUIREMENTS: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1283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6.ADVANTAGES </a:t>
            </a:r>
            <a:b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size, easy to fit in devices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antennas improve signal quality and reliability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structure reduces interference between antennas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good signal strength 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cost because it uses FR4 material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many wireless applications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7.APPLICATIONS</a:t>
            </a:r>
            <a:b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8229600" cy="4983163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communication systems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High-speed data transfer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and portable devices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sensor networks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 and imaging systems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of Things (IoT) devices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monitoring and imaging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8.REFERENCES</a:t>
            </a:r>
            <a:br>
              <a:rPr lang="en-US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7388"/>
            <a:ext cx="8229600" cy="5668963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A. A. Ibrahim and M. F. Abo Sree, “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Uwb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Mimo Antenna with 4-element, Compact Size, High Isolation and Single Band Rejection for High-Speed Wireless Networks,” Wireless Networks 28, no. 7(2022): 3143–3155, h</a:t>
            </a:r>
          </a:p>
          <a:p>
            <a:pPr mar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C. Suresh, T. S. Reddy, B. T. P. Madhav, et al., “A Novel Design of Spike-Shaped Miniaturized 4 × 4 MIMO Antenna for Wireless UWB Network Applications Using Characteristic Mode Analysis,” Micromachines 14, no. 3 (2023): 612, https:// do</a:t>
            </a:r>
          </a:p>
          <a:p>
            <a:pPr mar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A. C. Suresh, T. S. Reddy, B. T. P. Madhav, et al., “A Novel Design of Spike-Shaped Miniaturized 4 × 4 MIMO Antenna for Wireless UWB Network Applications Using Characteristic Mode Analysis,” Micromachines 14, no. 3 (2023): 612, https:// doi.org/10.3390/mi14030612.i.org/10.3390/mi14030612.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ttps://doi.org/10.1007/ s11276-022-03019-4.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Addepalli, G. N. Kumar, C. J. Rani, et al., “A Defected Substrate 4-Element MIMO Antenna With Higher Diversity Characteristics for 5G Sub-6 GHz N77/N78 Band Applications,” Wireless Networks 31, no. 2 (2024): 1931–1947, https:// doi.org/10.1007/s11276-024-03864-5.</a:t>
            </a:r>
          </a:p>
          <a:p>
            <a:pPr mar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C.S. Anki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reddy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T.S. Reddy, and B .Madhav, “Design and Verification of an Umbrella Shaped Narrow Band-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Uwb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Antenna Pair for Mimo Applications Using Characteristic Mode Analysis ,” E-Prime-Advances in Electrical Engineering, Electronics and Energy 8 (2024): 100545, https://doi.org/ 10.1016/j.prime.2024.100545.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lphaUcPeriod"/>
            </a:pP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440362"/>
          </a:xfrm>
        </p:spPr>
        <p:txBody>
          <a:bodyPr>
            <a:normAutofit/>
          </a:bodyPr>
          <a:lstStyle/>
          <a:p>
            <a:r>
              <a:rPr lang="en-US" sz="6600" b="1" dirty="0">
                <a:latin typeface="Times New Roman" pitchFamily="18" charset="0"/>
                <a:cs typeface="Times New Roman" pitchFamily="18" charset="0"/>
              </a:rPr>
              <a:t>QUERIES 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38400"/>
            <a:ext cx="8229600" cy="3687763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6600" b="1" dirty="0"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931</TotalTime>
  <Words>1086</Words>
  <Application>Microsoft Office PowerPoint</Application>
  <PresentationFormat>On-screen Show (4:3)</PresentationFormat>
  <Paragraphs>110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Bookman Old Style</vt:lpstr>
      <vt:lpstr>Calibri</vt:lpstr>
      <vt:lpstr>Times New Roman</vt:lpstr>
      <vt:lpstr>Wingdings</vt:lpstr>
      <vt:lpstr>Office Theme</vt:lpstr>
      <vt:lpstr>Four-Element UWB MIMO Antenna System With a Square Frame Decoupling Structure for Enhanced Isolation and Polarization Diversity Characteristics</vt:lpstr>
      <vt:lpstr>CONTENTS</vt:lpstr>
      <vt:lpstr>1.ABSTRACT</vt:lpstr>
      <vt:lpstr> 2.EXISTING SYSTEM </vt:lpstr>
      <vt:lpstr>PowerPoint Presentation</vt:lpstr>
      <vt:lpstr>PowerPoint Presentation</vt:lpstr>
      <vt:lpstr>PowerPoint Presentation</vt:lpstr>
      <vt:lpstr>PowerPoint Presentation</vt:lpstr>
      <vt:lpstr> 3.PROPOSED SYSTEM &amp; IT’S WORKING </vt:lpstr>
      <vt:lpstr>4.EXPECTED OUTCOMES </vt:lpstr>
      <vt:lpstr>PowerPoint Presentation</vt:lpstr>
      <vt:lpstr>6.ADVANTAGES  </vt:lpstr>
      <vt:lpstr>7.APPLICATIONS </vt:lpstr>
      <vt:lpstr>8.REFERENCES </vt:lpstr>
      <vt:lpstr>QUERIES 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OF ALERTING DRIVER USING LPC 2148 AND BUS ARRIVAL TIME MONITORING SYSTEM”</dc:title>
  <dc:creator>USHARAMA</dc:creator>
  <cp:lastModifiedBy>lakshmi durga</cp:lastModifiedBy>
  <cp:revision>42</cp:revision>
  <dcterms:created xsi:type="dcterms:W3CDTF">2006-08-16T00:00:00Z</dcterms:created>
  <dcterms:modified xsi:type="dcterms:W3CDTF">2025-09-12T18:18:22Z</dcterms:modified>
</cp:coreProperties>
</file>